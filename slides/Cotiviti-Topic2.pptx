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thesis: agentic AI for payment integrity, and my whole argument is that the auditable agent is the one that wins. Keep this to about 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95.5 billion. The reframe is the important part: most of that isn't fraud, it's coding and documentation error. That's the structured, rule-bound work an agent can actually review, and it sets up everything after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methods on the left are familiar and none of them are unique to healthcare. What's new is the layer on the right: goal, tools, loop, with chain-of-thought and ReAct underneath. Land the point that we're working in Payment, under TPO.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shifts happening at once: models becoming agents, RAG becoming the way you keep them grounded, and governance becoming an actual operations problem. Punchline at the bottom: for a payer this isn't red tape, it's what makes shipping one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flow top to bottom: UI, then the agent loop on Groq with native tool-calling and no framework, then the three tools, then the strict JSON verdict. Call out that lookup_policy is the RAG stand-in. The screenshot is there to prove it actually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routing story in three columns. CL-001 is clean and auto-clears. CL-010 approves but its confidence is under the cutoff, so the threshold alone sends it to a human. That middle one is the slide I'd slow down on. CL-007 passes every hard rule but the independent anomaly fires, so it flags.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design choices are visible on screen, not just claimed: the audit trail falls out of the tool calls, confidence drives routing (that's the Tian fix), and the anomaly check is a second signal that doesn't depend on the model. The histogram puts CL-007 at almost 6 sigma. And I'm honest that lookup_policy stands in for RAG, I don't fake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openings: automation across the structured bulk of review, classical methods that catch patterns the agent can't, and the fact that this lines up with Cotiviti's own published stance that AI is a tool paired with human expertise.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risks: hallucination, overconfidence, bias, auditability. Don't skip the bottom line, because chain-of-thought actually cut hallucinations in testing. If you can see the reasoning you can check it. The risks are what motivate the design, they don't sink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recommendation: build it human-in-the-loop with a full audit trail, and sell that audit trail as the edge, not the cost. Run the six points quickly. Close on the line about a decision being only as good as the case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references in APA. Reminder that all the POC data is synthetic and there's no PHI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0E7C7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-640080"/>
            <a:ext cx="2560320" cy="2560320"/>
          </a:xfrm>
          <a:prstGeom prst="ellipse">
            <a:avLst/>
          </a:prstGeom>
          <a:solidFill>
            <a:srgbClr val="0E7C7B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COTIVITI INTERN ASSESSMENT  ·  TOPIC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9202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AI for Payment Integrity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Auditable Agent Wins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41248" y="4160520"/>
            <a:ext cx="2011680" cy="0"/>
          </a:xfrm>
          <a:prstGeom prst="line">
            <a:avLst/>
          </a:prstGeom>
          <a:noFill/>
          <a:ln w="25400">
            <a:solidFill>
              <a:srgbClr val="0E7C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3434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decision-making and pattern recognition: agentic generative AI for Treatment, Payment, and Operations.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Abdel-Basit Jimoh</a:t>
            </a:r>
            <a:pPr indent="0" marL="0">
              <a:buNone/>
            </a:pPr>
            <a:r>
              <a:rPr lang="en-US" sz="14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Indiana University Bloomington   ·   June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opportunity hiding in improper payments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96596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$95.5B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685800" y="27889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improper payments across Medicare &amp; Medicaid, FY2025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349300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CMS, 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97680" y="196596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$28.83B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526280" y="27889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Medicare fee-for-service alone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26280" y="349300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CMS, 2026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69164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EAF3F3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66760" y="1965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5E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of it isn't fraud.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366760" y="24688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coding and documentation error: structured, rule-bound work that an agent can actually review at volume.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112928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3159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for Cotiviti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681728"/>
            <a:ext cx="10744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integrity is pattern recognition at national scale. A first pass that is faster, steadier, and able to explain itself turns a multi-billion-dollar error rate into something a team can actually work through. That only works if reviewers trust the output, and trust comes from seeing how it got there.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Abdel-Basit Jimoh  ·  Cotiviti Intern Assessment, Topic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methods, plus a new reasoning layer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familiar toolkit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58368" y="2249424"/>
            <a:ext cx="365760" cy="365760"/>
          </a:xfrm>
          <a:prstGeom prst="ellipse">
            <a:avLst/>
          </a:prstGeom>
          <a:solidFill>
            <a:srgbClr val="EAF3F3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2359152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21214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234440" y="24323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a claim into a fixed category: clean or improper.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54864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" y="3200400"/>
            <a:ext cx="365760" cy="365760"/>
          </a:xfrm>
          <a:prstGeom prst="ellipse">
            <a:avLst/>
          </a:prstGeom>
          <a:solidFill>
            <a:srgbClr val="EAF3F3"/>
          </a:solidFill>
          <a:ln/>
        </p:spPr>
      </p:sp>
      <p:sp>
        <p:nvSpPr>
          <p:cNvPr id="13" name="Shape 11"/>
          <p:cNvSpPr/>
          <p:nvPr/>
        </p:nvSpPr>
        <p:spPr>
          <a:xfrm>
            <a:off x="768096" y="3310128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30723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23444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an unknown value, like what a claim should cost.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13632"/>
            <a:ext cx="54864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" y="4151376"/>
            <a:ext cx="365760" cy="365760"/>
          </a:xfrm>
          <a:prstGeom prst="ellipse">
            <a:avLst/>
          </a:prstGeom>
          <a:solidFill>
            <a:srgbClr val="EAF3F3"/>
          </a:solidFill>
          <a:ln/>
        </p:spPr>
      </p:sp>
      <p:sp>
        <p:nvSpPr>
          <p:cNvPr id="18" name="Shape 16"/>
          <p:cNvSpPr/>
          <p:nvPr/>
        </p:nvSpPr>
        <p:spPr>
          <a:xfrm>
            <a:off x="768096" y="4261104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9" name="Text 17"/>
          <p:cNvSpPr/>
          <p:nvPr/>
        </p:nvSpPr>
        <p:spPr>
          <a:xfrm>
            <a:off x="1234440" y="40233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234440" y="43342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providers who bill alike, flag the ones who don't.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864608"/>
            <a:ext cx="54864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5102352"/>
            <a:ext cx="365760" cy="365760"/>
          </a:xfrm>
          <a:prstGeom prst="ellipse">
            <a:avLst/>
          </a:prstGeom>
          <a:solidFill>
            <a:srgbClr val="EAF3F3"/>
          </a:solidFill>
          <a:ln/>
        </p:spPr>
      </p:sp>
      <p:sp>
        <p:nvSpPr>
          <p:cNvPr id="23" name="Shape 21"/>
          <p:cNvSpPr/>
          <p:nvPr/>
        </p:nvSpPr>
        <p:spPr>
          <a:xfrm>
            <a:off x="768096" y="5212080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4" name="Text 22"/>
          <p:cNvSpPr/>
          <p:nvPr/>
        </p:nvSpPr>
        <p:spPr>
          <a:xfrm>
            <a:off x="1234440" y="4974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234440" y="52852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values over time, catch a sudden billing spike.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16002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LAYER:  AGENTIC GENERATIVE AI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126480" y="2103120"/>
            <a:ext cx="2194560" cy="457200"/>
          </a:xfrm>
          <a:prstGeom prst="roundRect">
            <a:avLst>
              <a:gd name="adj" fmla="val 12000"/>
            </a:avLst>
          </a:prstGeom>
          <a:solidFill>
            <a:srgbClr val="EAF3F3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17220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5E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review the claim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132320" y="2560320"/>
            <a:ext cx="0" cy="292608"/>
          </a:xfrm>
          <a:prstGeom prst="line">
            <a:avLst/>
          </a:prstGeom>
          <a:noFill/>
          <a:ln w="25400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55080" y="2926080"/>
            <a:ext cx="1554480" cy="658368"/>
          </a:xfrm>
          <a:prstGeom prst="roundRect">
            <a:avLst>
              <a:gd name="adj" fmla="val 8333"/>
            </a:avLst>
          </a:prstGeom>
          <a:solidFill>
            <a:srgbClr val="1B2A4A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400800" y="292608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909560" y="3255264"/>
            <a:ext cx="310896" cy="0"/>
          </a:xfrm>
          <a:prstGeom prst="line">
            <a:avLst/>
          </a:prstGeom>
          <a:noFill/>
          <a:ln w="25400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229600" y="2926080"/>
            <a:ext cx="1874520" cy="658368"/>
          </a:xfrm>
          <a:prstGeom prst="roundRect">
            <a:avLst>
              <a:gd name="adj" fmla="val 8333"/>
            </a:avLst>
          </a:prstGeom>
          <a:solidFill>
            <a:srgbClr val="0B5E5D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275320" y="292608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call a tool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10104120" y="3255264"/>
            <a:ext cx="292608" cy="0"/>
          </a:xfrm>
          <a:prstGeom prst="line">
            <a:avLst/>
          </a:prstGeom>
          <a:noFill/>
          <a:ln w="25400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405872" y="2926080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1B2A4A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0451592" y="292608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1064240" y="3584448"/>
            <a:ext cx="0" cy="384048"/>
          </a:xfrm>
          <a:prstGeom prst="line">
            <a:avLst/>
          </a:prstGeom>
          <a:noFill/>
          <a:ln w="25400">
            <a:solidFill>
              <a:srgbClr val="0E7C7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132320" y="3968496"/>
            <a:ext cx="3931920" cy="0"/>
          </a:xfrm>
          <a:prstGeom prst="line">
            <a:avLst/>
          </a:prstGeom>
          <a:noFill/>
          <a:ln w="25400">
            <a:solidFill>
              <a:srgbClr val="0E7C7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132320" y="3584448"/>
            <a:ext cx="0" cy="384048"/>
          </a:xfrm>
          <a:prstGeom prst="line">
            <a:avLst/>
          </a:prstGeom>
          <a:noFill/>
          <a:ln w="25400">
            <a:solidFill>
              <a:srgbClr val="0E7C7B"/>
            </a:solidFill>
            <a:prstDash val="solid"/>
            <a:headEnd type="triangle"/>
          </a:ln>
        </p:spPr>
      </p:sp>
      <p:sp>
        <p:nvSpPr>
          <p:cNvPr id="41" name="Text 39"/>
          <p:cNvSpPr/>
          <p:nvPr/>
        </p:nvSpPr>
        <p:spPr>
          <a:xfrm>
            <a:off x="7498080" y="39867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confident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355080" y="45262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in one loop: </a:t>
            </a:r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reason, act, observe, repeat, then return a verdict. Chain-of-thought keeps every step explicit and auditable </a:t>
            </a:r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(Wei 2022; Yao 2023).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sits:  </a:t>
            </a:r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Treatment, Payment, and Operations, Payment is where these methods pay off most clearly and most measurably.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Abdel-Basit Jimoh  ·  Cotiviti Intern Assessment, Topic 2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shifts converging on payment AI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611880" cy="36576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057400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16712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49808" y="28803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answers to agents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36118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moved from one-shot generative models to agents that take multi-step action under human oversight. Payers are among the first to put it to work, on claims and prior authorization.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279392" y="1783080"/>
            <a:ext cx="3611880" cy="36576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53712" y="2057400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2" name="Text 10"/>
          <p:cNvSpPr/>
          <p:nvPr/>
        </p:nvSpPr>
        <p:spPr>
          <a:xfrm>
            <a:off x="4553712" y="216712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72000" y="28803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keeps models honest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 pulls the real policy text before the model answers, so the output is grounded in source. It's become the default way to cut hallucination in healthcare LLMs.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50292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Amugongo et al., 2025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01584" y="1783080"/>
            <a:ext cx="3611880" cy="36576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057400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216712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394192" y="28803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goes operational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94192" y="36118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Oversight and auditability are turning into design requirements (NIST AI RMF). Newer work tackles “agent sprawl” with identity, kill-switches, and audit logging.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94192" y="50292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2023 · Prakash et al., 2026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56235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B5E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 payer, none of this is red tape. It's the part that makes an agent safe enough to actually ship.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Abdel-Basit Jimoh  ·  Cotiviti Intern Assessment, Topic 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Claim-Review Assistant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takes one synthetic claim, works through the coding and payment rules with three tools, and returns a structured verdict: APPROVE or FLAG, plus a rationale, a confidence score, and a recommendation for the human reviewer.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7406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505456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UI:  pick a synthetic claim, then hit Review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023360" y="29443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7C7B"/>
                </a:solidFill>
              </a:rPr>
              <a:t>▼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3328416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loop:  Groq  llama-3.3-70b,  native tool-calling, no framework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31520" y="3657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a tool, reads the result, keeps reasoning until it lands on a verdict.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23360" y="40416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7C7B"/>
                </a:solidFill>
              </a:rPr>
              <a:t>▼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34340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443984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E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lookup_policy()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473659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coding/payment rules for the CPT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50657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stand-in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94660" y="434340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131820" y="4443984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E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check_eligibility()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131820" y="473659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member active &amp; covered?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32120" y="434340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669280" y="4443984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E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amount_anomaly()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69280" y="473659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vs. billing history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0" y="50657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signal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023360" y="532180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7C7B"/>
                </a:solidFill>
              </a:rPr>
              <a:t>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5532120"/>
            <a:ext cx="7406640" cy="658368"/>
          </a:xfrm>
          <a:prstGeom prst="roundRect">
            <a:avLst>
              <a:gd name="adj" fmla="val 11111"/>
            </a:avLst>
          </a:prstGeom>
          <a:solidFill>
            <a:srgbClr val="0B5E5D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1520" y="5660136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JSON verdict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31520" y="5989320"/>
            <a:ext cx="6858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decision, reasons[], confidence, recommended_action }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183880" y="2377440"/>
            <a:ext cx="3566160" cy="3813048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pic>
        <p:nvPicPr>
          <p:cNvPr id="29" name="Image 0" descr="assets/cotiviti-ui-01-land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75320" y="2487168"/>
            <a:ext cx="3383280" cy="173736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8366760" y="42976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app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366760" y="459028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Single-file Streamlit. 100% synthetic data, no PHI. lookup_policy plays the part of a production RAG retrieval step.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8366760" y="5715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first principles, no LangChain or LlamaIndex.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Abdel-Basit Jimoh  ·  Cotiviti Intern Assessment, Topic 2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POC IN ACTION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agent, three routing outcomes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9659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CL-001  ·  CLEAN OFFICE VISIT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2249424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passes and the amount is unremarkable.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13232" y="2852928"/>
            <a:ext cx="3099816" cy="566928"/>
          </a:xfrm>
          <a:prstGeom prst="roundRect">
            <a:avLst>
              <a:gd name="adj" fmla="val 9677"/>
            </a:avLst>
          </a:prstGeom>
          <a:solidFill>
            <a:srgbClr val="157347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2852928"/>
            <a:ext cx="3099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 APPROVE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13232" y="358444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 </a:t>
            </a:r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13232" y="3950208"/>
            <a:ext cx="3099816" cy="457200"/>
          </a:xfrm>
          <a:prstGeom prst="roundRect">
            <a:avLst>
              <a:gd name="adj" fmla="val 12000"/>
            </a:avLst>
          </a:prstGeom>
          <a:solidFill>
            <a:srgbClr val="157347">
              <a:alpha val="14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3950208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7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AUTO-CLEAR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13232" y="4553712"/>
            <a:ext cx="30998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sits at or above the 85% cutoff, so it clears with no human needed.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4820" y="178308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30852" y="19659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CL-010  ·  ELEVATED AMOUNT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30852" y="2249424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every hard rule, but the billed amount is unusual (z ≈ 2.0, just under the 3σ cutoff).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30852" y="2852928"/>
            <a:ext cx="3099816" cy="566928"/>
          </a:xfrm>
          <a:prstGeom prst="roundRect">
            <a:avLst>
              <a:gd name="adj" fmla="val 9677"/>
            </a:avLst>
          </a:prstGeom>
          <a:solidFill>
            <a:srgbClr val="B7791F"/>
          </a:solidFill>
          <a:ln/>
        </p:spPr>
      </p:sp>
      <p:sp>
        <p:nvSpPr>
          <p:cNvPr id="18" name="Text 16"/>
          <p:cNvSpPr/>
          <p:nvPr/>
        </p:nvSpPr>
        <p:spPr>
          <a:xfrm>
            <a:off x="4530852" y="2852928"/>
            <a:ext cx="3099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 APPROVE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30852" y="358444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 </a:t>
            </a:r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~75%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30852" y="3950208"/>
            <a:ext cx="3099816" cy="457200"/>
          </a:xfrm>
          <a:prstGeom prst="roundRect">
            <a:avLst>
              <a:gd name="adj" fmla="val 12000"/>
            </a:avLst>
          </a:prstGeom>
          <a:solidFill>
            <a:srgbClr val="B7791F">
              <a:alpha val="14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530852" y="3950208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HUMAN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30852" y="4553712"/>
            <a:ext cx="30998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Approved, but confidence lands below the cutoff, so the threshold alone sends it to a reviewer.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92440" y="178308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348472" y="19659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CL-007  ·  AMOUNT OUTLIER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348472" y="2249424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every hard rule, but the independent anomaly check fires anyway.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348472" y="2852928"/>
            <a:ext cx="3099816" cy="566928"/>
          </a:xfrm>
          <a:prstGeom prst="roundRect">
            <a:avLst>
              <a:gd name="adj" fmla="val 9677"/>
            </a:avLst>
          </a:prstGeom>
          <a:solidFill>
            <a:srgbClr val="C0392B"/>
          </a:solidFill>
          <a:ln/>
        </p:spPr>
      </p:sp>
      <p:sp>
        <p:nvSpPr>
          <p:cNvPr id="27" name="Text 25"/>
          <p:cNvSpPr/>
          <p:nvPr/>
        </p:nvSpPr>
        <p:spPr>
          <a:xfrm>
            <a:off x="8348472" y="2852928"/>
            <a:ext cx="3099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⚑  FLAG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348472" y="358444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 </a:t>
            </a:r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348472" y="3950208"/>
            <a:ext cx="3099816" cy="457200"/>
          </a:xfrm>
          <a:prstGeom prst="roundRect">
            <a:avLst>
              <a:gd name="adj" fmla="val 12000"/>
            </a:avLst>
          </a:prstGeom>
          <a:solidFill>
            <a:srgbClr val="C0392B">
              <a:alpha val="14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8348472" y="3950208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HUMAN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348472" y="4553712"/>
            <a:ext cx="30998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anomaly z = 5.82 for CPT 27447. A flag always routes to a human, whatever the confidence.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Abdel-Basit Jimoh  ·  Cotiviti Intern Assessment, Topic 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= ARGUMENT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design choices, made visible on screen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011680"/>
            <a:ext cx="566928" cy="56692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93976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Auditable by construction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31520" y="3310128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calls and their results are the reasoning, so the explanation comes for free. It's the record a regulator or an appealing provider would ask for.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4608576"/>
            <a:ext cx="3063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0001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B5E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demo: the audit trail listed under every claim.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79392" y="178308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53712" y="2011680"/>
            <a:ext cx="566928" cy="56692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2093976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53712" y="2697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 as a routing threshold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4553712" y="3310128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calibrated, and only high-confidence approvals clear. Everything else goes to a person. The fix for LLM overconfidence (Tian et al., 2025).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53712" y="4608576"/>
            <a:ext cx="3063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12" y="470001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B5E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demo: CL-010 passed the rules but routed on confidence.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1584" y="178308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75904" y="2011680"/>
            <a:ext cx="566928" cy="56692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1" name="Text 19"/>
          <p:cNvSpPr/>
          <p:nvPr/>
        </p:nvSpPr>
        <p:spPr>
          <a:xfrm>
            <a:off x="8375904" y="2093976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375904" y="2697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Defense in depth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8375904" y="3310128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independent z-score check runs alongside the model, so no verdict ever rests on the language model alone.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375904" y="4608576"/>
            <a:ext cx="3063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75904" y="470001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B5E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demo: CL-007 passed every rule; the anomaly caught it.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5532120"/>
            <a:ext cx="1129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B5E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These aren't claims about the system. They're things you just watched it do.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Abdel-Basit Jimoh  ·  Cotiviti Intern Assessment, Topic 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faster, more consistent, explainable first pass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057400"/>
            <a:ext cx="411480" cy="411480"/>
          </a:xfrm>
          <a:prstGeom prst="ellipse">
            <a:avLst/>
          </a:prstGeom>
          <a:solidFill>
            <a:srgbClr val="EAF3F3"/>
          </a:solidFill>
          <a:ln/>
        </p:spPr>
      </p:sp>
      <p:sp>
        <p:nvSpPr>
          <p:cNvPr id="7" name="Shape 5"/>
          <p:cNvSpPr/>
          <p:nvPr/>
        </p:nvSpPr>
        <p:spPr>
          <a:xfrm>
            <a:off x="850392" y="2176272"/>
            <a:ext cx="173736" cy="17373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6060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at scale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2461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the policy, check eligibility, reason through whether the diagnosis justifies the procedure, return a decision with a rationale and a confidence score. The structured bulk of review.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79392" y="178308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53712" y="2057400"/>
            <a:ext cx="411480" cy="411480"/>
          </a:xfrm>
          <a:prstGeom prst="ellipse">
            <a:avLst/>
          </a:prstGeom>
          <a:solidFill>
            <a:srgbClr val="EAF3F3"/>
          </a:solidFill>
          <a:ln/>
        </p:spPr>
      </p:sp>
      <p:sp>
        <p:nvSpPr>
          <p:cNvPr id="12" name="Shape 10"/>
          <p:cNvSpPr/>
          <p:nvPr/>
        </p:nvSpPr>
        <p:spPr>
          <a:xfrm>
            <a:off x="4672584" y="2176272"/>
            <a:ext cx="173736" cy="17373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26060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Classical methods complement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53712" y="32461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and anomaly detection catch providers whose billing breaks from their peers, no labeled data needed. Often the only way a new abuse pattern surfaces (De Meulemeester et al., 2025).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75904" y="2057400"/>
            <a:ext cx="411480" cy="411480"/>
          </a:xfrm>
          <a:prstGeom prst="ellipse">
            <a:avLst/>
          </a:prstGeom>
          <a:solidFill>
            <a:srgbClr val="EAF3F3"/>
          </a:solidFill>
          <a:ln/>
        </p:spPr>
      </p:sp>
      <p:sp>
        <p:nvSpPr>
          <p:cNvPr id="17" name="Shape 15"/>
          <p:cNvSpPr/>
          <p:nvPr/>
        </p:nvSpPr>
        <p:spPr>
          <a:xfrm>
            <a:off x="8494776" y="2176272"/>
            <a:ext cx="173736" cy="17373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26060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Aligned with Cotiviti's stance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75904" y="32461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Cotiviti already frames AI as a tool, not a solution: valuable when paired with human expertise and past results to learn from (Arnold &amp; Periyanan, 2025).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074920"/>
            <a:ext cx="11292840" cy="91440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1520" y="5074920"/>
            <a:ext cx="10744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was never about replacing reviewers. It hands them a first pass that's quicker, steadier, and already explained.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Abdel-Basit Jimoh  ·  Cotiviti Intern Assessment, Topic 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risk has a control built into the design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26364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SAFEGUARD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938528"/>
            <a:ext cx="49377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8368" y="2212848"/>
            <a:ext cx="310896" cy="310896"/>
          </a:xfrm>
          <a:prstGeom prst="ellipse">
            <a:avLst/>
          </a:prstGeom>
          <a:solidFill>
            <a:srgbClr val="F7E4E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304288"/>
            <a:ext cx="128016" cy="12801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08483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Hallucination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243230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91.8% of clinicians have hit one (Kim 2025)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504688" y="2382012"/>
            <a:ext cx="5029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63640" y="1938528"/>
            <a:ext cx="5486400" cy="886968"/>
          </a:xfrm>
          <a:prstGeom prst="roundRect">
            <a:avLst>
              <a:gd name="adj" fmla="val 8247"/>
            </a:avLst>
          </a:prstGeom>
          <a:solidFill>
            <a:srgbClr val="EAF3F3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208483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903720" y="2048256"/>
            <a:ext cx="4709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Tool-grounded retrieval plus visible chain-of-thought; the explicit steps catch errors.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935224"/>
            <a:ext cx="49377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" y="3209544"/>
            <a:ext cx="310896" cy="310896"/>
          </a:xfrm>
          <a:prstGeom prst="ellipse">
            <a:avLst/>
          </a:prstGeom>
          <a:solidFill>
            <a:srgbClr val="F7E4E1"/>
          </a:solidFill>
          <a:ln/>
        </p:spPr>
      </p:sp>
      <p:sp>
        <p:nvSpPr>
          <p:cNvPr id="18" name="Shape 16"/>
          <p:cNvSpPr/>
          <p:nvPr/>
        </p:nvSpPr>
        <p:spPr>
          <a:xfrm>
            <a:off x="749808" y="3300984"/>
            <a:ext cx="128016" cy="12801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308152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Overconfidence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43000" y="342900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runs hot (Tian 2025)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504688" y="3378708"/>
            <a:ext cx="5029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63640" y="2935224"/>
            <a:ext cx="5486400" cy="886968"/>
          </a:xfrm>
          <a:prstGeom prst="roundRect">
            <a:avLst>
              <a:gd name="adj" fmla="val 8247"/>
            </a:avLst>
          </a:prstGeom>
          <a:solidFill>
            <a:srgbClr val="EAF3F3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46520" y="308152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03720" y="3044952"/>
            <a:ext cx="4709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is calibrated and used as a routing gate, never trusted at face value.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57200" y="3931920"/>
            <a:ext cx="49377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206240"/>
            <a:ext cx="310896" cy="310896"/>
          </a:xfrm>
          <a:prstGeom prst="ellipse">
            <a:avLst/>
          </a:prstGeom>
          <a:solidFill>
            <a:srgbClr val="F7E4E1"/>
          </a:solidFill>
          <a:ln/>
        </p:spPr>
      </p:sp>
      <p:sp>
        <p:nvSpPr>
          <p:cNvPr id="27" name="Shape 25"/>
          <p:cNvSpPr/>
          <p:nvPr/>
        </p:nvSpPr>
        <p:spPr>
          <a:xfrm>
            <a:off x="749808" y="4297680"/>
            <a:ext cx="128016" cy="12801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8" name="Text 26"/>
          <p:cNvSpPr/>
          <p:nvPr/>
        </p:nvSpPr>
        <p:spPr>
          <a:xfrm>
            <a:off x="1143000" y="407822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43000" y="442569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 relearn yesterday's mistakes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504688" y="4375404"/>
            <a:ext cx="5029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263640" y="3931920"/>
            <a:ext cx="5486400" cy="886968"/>
          </a:xfrm>
          <a:prstGeom prst="roundRect">
            <a:avLst>
              <a:gd name="adj" fmla="val 8247"/>
            </a:avLst>
          </a:prstGeom>
          <a:solidFill>
            <a:srgbClr val="EAF3F3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46520" y="407822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903720" y="4041648"/>
            <a:ext cx="4709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signs off on every non-cleared claim, with the full trail to inspect.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57200" y="4928616"/>
            <a:ext cx="49377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58368" y="5202936"/>
            <a:ext cx="310896" cy="310896"/>
          </a:xfrm>
          <a:prstGeom prst="ellipse">
            <a:avLst/>
          </a:prstGeom>
          <a:solidFill>
            <a:srgbClr val="F7E4E1"/>
          </a:solidFill>
          <a:ln/>
        </p:spPr>
      </p:sp>
      <p:sp>
        <p:nvSpPr>
          <p:cNvPr id="36" name="Shape 34"/>
          <p:cNvSpPr/>
          <p:nvPr/>
        </p:nvSpPr>
        <p:spPr>
          <a:xfrm>
            <a:off x="749808" y="5294376"/>
            <a:ext cx="128016" cy="12801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7" name="Text 35"/>
          <p:cNvSpPr/>
          <p:nvPr/>
        </p:nvSpPr>
        <p:spPr>
          <a:xfrm>
            <a:off x="1143000" y="50749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Auditability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143000" y="542239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call must be justified to regulators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504688" y="5372100"/>
            <a:ext cx="5029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6263640" y="4928616"/>
            <a:ext cx="5486400" cy="886968"/>
          </a:xfrm>
          <a:prstGeom prst="roundRect">
            <a:avLst>
              <a:gd name="adj" fmla="val 8247"/>
            </a:avLst>
          </a:prstGeom>
          <a:solidFill>
            <a:srgbClr val="EAF3F3"/>
          </a:solidFill>
          <a:ln/>
          <a:effectLst>
            <a:outerShdw sx="100000" sy="100000" kx="0" ky="0" algn="bl" rotWithShape="0" blurRad="88900" dist="38100" dir="5400000">
              <a:srgbClr val="9AA7B4">
                <a:alpha val="2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446520" y="50749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903720" y="5038344"/>
            <a:ext cx="4709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is the record; every decision traces back to the policy it used.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Abdel-Basit Jimoh  ·  Cotiviti Intern Assessment, Topic 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46304" cy="146304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auditable agent the differentiator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agentic claim review as a human-in-the-loop system with a full audit trail, and treat that audit trail as the competitive edge rather than a compliance checkbox.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457200" y="208483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in depth — each layer is an independent check, with a person at the end: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43630" y="2542032"/>
            <a:ext cx="5303520" cy="475488"/>
          </a:xfrm>
          <a:prstGeom prst="roundRect">
            <a:avLst>
              <a:gd name="adj" fmla="val 9615"/>
            </a:avLst>
          </a:prstGeom>
          <a:solidFill>
            <a:srgbClr val="2C4A6B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43630" y="2542032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reasons over the claim, grounded in policy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077870" y="3081528"/>
            <a:ext cx="6035040" cy="475488"/>
          </a:xfrm>
          <a:prstGeom prst="roundRect">
            <a:avLst>
              <a:gd name="adj" fmla="val 9615"/>
            </a:avLst>
          </a:prstGeom>
          <a:solidFill>
            <a:srgbClr val="2C4A6B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77870" y="308152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· every step recorded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712110" y="3621024"/>
            <a:ext cx="6766560" cy="475488"/>
          </a:xfrm>
          <a:prstGeom prst="roundRect">
            <a:avLst>
              <a:gd name="adj" fmla="val 9615"/>
            </a:avLst>
          </a:prstGeom>
          <a:solidFill>
            <a:srgbClr val="2C4A6B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2110" y="3621024"/>
            <a:ext cx="6766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gate · low-confidence routes to people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346350" y="4160520"/>
            <a:ext cx="7498080" cy="475488"/>
          </a:xfrm>
          <a:prstGeom prst="roundRect">
            <a:avLst>
              <a:gd name="adj" fmla="val 9615"/>
            </a:avLst>
          </a:prstGeom>
          <a:solidFill>
            <a:srgbClr val="2C4A6B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46350" y="416052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anomaly check · a second signal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980590" y="4700016"/>
            <a:ext cx="8229600" cy="475488"/>
          </a:xfrm>
          <a:prstGeom prst="roundRect">
            <a:avLst>
              <a:gd name="adj" fmla="val 9615"/>
            </a:avLst>
          </a:prstGeom>
          <a:solidFill>
            <a:srgbClr val="2C4A6B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80590" y="4700016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· identity, kill switch, logging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95390" y="5221224"/>
            <a:ext cx="0" cy="182880"/>
          </a:xfrm>
          <a:prstGeom prst="line">
            <a:avLst/>
          </a:prstGeom>
          <a:noFill/>
          <a:ln w="25400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443630" y="5413248"/>
            <a:ext cx="5303520" cy="493776"/>
          </a:xfrm>
          <a:prstGeom prst="roundRect">
            <a:avLst>
              <a:gd name="adj" fmla="val 11111"/>
            </a:avLst>
          </a:prstGeom>
          <a:solidFill>
            <a:srgbClr val="0E7C7B"/>
          </a:solidFill>
          <a:ln/>
        </p:spPr>
      </p:sp>
      <p:sp>
        <p:nvSpPr>
          <p:cNvPr id="19" name="Text 17"/>
          <p:cNvSpPr/>
          <p:nvPr/>
        </p:nvSpPr>
        <p:spPr>
          <a:xfrm>
            <a:off x="3443630" y="5413248"/>
            <a:ext cx="5303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reviewer makes the final call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claim decision is only as good as the case behind it. Build the agent that shows its work, and the audit trail becomes the pitch.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228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3232" y="178308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Amugongo, L. M., et al. (2025). Retrieval augmented generation for LLMs in healthcare: A systematic review. PLOS Digital Health, 4(6).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228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13232" y="26517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B., &amp; Periyanan, A. (2025). The evolving role of AI in payment integrity [White paper]. AHIP / Cotiviti.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3520440"/>
            <a:ext cx="228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Centers for Medicare &amp; Medicaid Services. (2026). Fiscal year 2025 improper payments fact sheet.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4389120"/>
            <a:ext cx="228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3232" y="43891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Meulemeester, H., et al. (2025). Explainable unsupervised anomaly detection for healthcare insurance data. BMC Med. Informatics &amp; Decision Making, 25(1).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5257800"/>
            <a:ext cx="228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13232" y="52578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Kim, Y., et al. (2025). Medical hallucinations in foundation models and their impact on healthcare. arXiv:2503.05777.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1783080"/>
            <a:ext cx="228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19672" y="178308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Institute of Standards and Technology. (2023). AI Risk Management Framework (AI RMF 1.0), NIST AI 100-1.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263640" y="2651760"/>
            <a:ext cx="228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19672" y="26517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Prakash, C., Lind, M., &amp; Sisodia, A. (2026). Agentic AI governance and lifecycle management in healthcare. arXiv:2601.15630.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3520440"/>
            <a:ext cx="228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19672" y="35204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Tian, Z., et al. (2025). Overconfidence in LLM-as-a-judge: Diagnosis and confidence-driven solution. arXiv:2508.06225.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263640" y="4389120"/>
            <a:ext cx="228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19672" y="43891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Wei, J., et al. (2022). Chain-of-thought prompting elicits reasoning in large language models. NeurIPS, 35.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263640" y="5257800"/>
            <a:ext cx="228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19672" y="52578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Yao, S., et al. (2023). ReAct: Synergizing reasoning and acting in language models. ICLR.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POC data is 100% synthetic. No PHI. Repository shared per the assessment instructions.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Payment Integrity</dc:title>
  <dc:subject>PptxGenJS Presentation</dc:subject>
  <dc:creator>Abdel-Basit Jimoh</dc:creator>
  <cp:lastModifiedBy>Abdel-Basit Jimoh</cp:lastModifiedBy>
  <cp:revision>1</cp:revision>
  <dcterms:created xsi:type="dcterms:W3CDTF">2026-06-29T21:04:12Z</dcterms:created>
  <dcterms:modified xsi:type="dcterms:W3CDTF">2026-06-29T21:04:12Z</dcterms:modified>
</cp:coreProperties>
</file>